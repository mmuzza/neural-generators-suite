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7772400" cy="100584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iZOTS1yIm73tNh+kUM4CVt2oPo8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" name="Google Shape;58;p1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9ac7ea2687_0_0:notes"/>
          <p:cNvSpPr txBox="1"/>
          <p:nvPr>
            <p:ph idx="1" type="body"/>
          </p:nvPr>
        </p:nvSpPr>
        <p:spPr>
          <a:xfrm>
            <a:off x="777225" y="4777725"/>
            <a:ext cx="6217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3" name="Google Shape;63;g39ac7ea2687_0_0:notes"/>
          <p:cNvSpPr/>
          <p:nvPr>
            <p:ph idx="2" type="sldImg"/>
          </p:nvPr>
        </p:nvSpPr>
        <p:spPr>
          <a:xfrm>
            <a:off x="533400" y="754063"/>
            <a:ext cx="67056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 txBox="1"/>
          <p:nvPr>
            <p:ph idx="1" type="body"/>
          </p:nvPr>
        </p:nvSpPr>
        <p:spPr>
          <a:xfrm>
            <a:off x="777225" y="4777725"/>
            <a:ext cx="6217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" name="Google Shape;71;p2:notes"/>
          <p:cNvSpPr/>
          <p:nvPr>
            <p:ph idx="2" type="sldImg"/>
          </p:nvPr>
        </p:nvSpPr>
        <p:spPr>
          <a:xfrm>
            <a:off x="533400" y="754063"/>
            <a:ext cx="67056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777225" y="4777725"/>
            <a:ext cx="6217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9" name="Google Shape;79;p3:notes"/>
          <p:cNvSpPr/>
          <p:nvPr>
            <p:ph idx="2" type="sldImg"/>
          </p:nvPr>
        </p:nvSpPr>
        <p:spPr>
          <a:xfrm>
            <a:off x="1295650" y="754375"/>
            <a:ext cx="51819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 txBox="1"/>
          <p:nvPr>
            <p:ph idx="1" type="body"/>
          </p:nvPr>
        </p:nvSpPr>
        <p:spPr>
          <a:xfrm>
            <a:off x="777225" y="4777725"/>
            <a:ext cx="6217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5" name="Google Shape;85;p4:notes"/>
          <p:cNvSpPr/>
          <p:nvPr>
            <p:ph idx="2" type="sldImg"/>
          </p:nvPr>
        </p:nvSpPr>
        <p:spPr>
          <a:xfrm>
            <a:off x="1295650" y="754375"/>
            <a:ext cx="51819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 txBox="1"/>
          <p:nvPr>
            <p:ph idx="1" type="body"/>
          </p:nvPr>
        </p:nvSpPr>
        <p:spPr>
          <a:xfrm>
            <a:off x="777225" y="4777725"/>
            <a:ext cx="6217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5:notes"/>
          <p:cNvSpPr/>
          <p:nvPr>
            <p:ph idx="2" type="sldImg"/>
          </p:nvPr>
        </p:nvSpPr>
        <p:spPr>
          <a:xfrm>
            <a:off x="1295650" y="754375"/>
            <a:ext cx="51819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:notes"/>
          <p:cNvSpPr txBox="1"/>
          <p:nvPr>
            <p:ph idx="1" type="body"/>
          </p:nvPr>
        </p:nvSpPr>
        <p:spPr>
          <a:xfrm>
            <a:off x="777225" y="4777725"/>
            <a:ext cx="6217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p6:notes"/>
          <p:cNvSpPr/>
          <p:nvPr>
            <p:ph idx="2" type="sldImg"/>
          </p:nvPr>
        </p:nvSpPr>
        <p:spPr>
          <a:xfrm>
            <a:off x="1295650" y="754375"/>
            <a:ext cx="51819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:notes"/>
          <p:cNvSpPr txBox="1"/>
          <p:nvPr>
            <p:ph idx="1" type="body"/>
          </p:nvPr>
        </p:nvSpPr>
        <p:spPr>
          <a:xfrm>
            <a:off x="777225" y="4777725"/>
            <a:ext cx="6217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p7:notes"/>
          <p:cNvSpPr/>
          <p:nvPr>
            <p:ph idx="2" type="sldImg"/>
          </p:nvPr>
        </p:nvSpPr>
        <p:spPr>
          <a:xfrm>
            <a:off x="1295650" y="754375"/>
            <a:ext cx="51819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8:notes"/>
          <p:cNvSpPr txBox="1"/>
          <p:nvPr>
            <p:ph idx="1" type="body"/>
          </p:nvPr>
        </p:nvSpPr>
        <p:spPr>
          <a:xfrm>
            <a:off x="777225" y="4777725"/>
            <a:ext cx="6217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p8:notes"/>
          <p:cNvSpPr/>
          <p:nvPr>
            <p:ph idx="2" type="sldImg"/>
          </p:nvPr>
        </p:nvSpPr>
        <p:spPr>
          <a:xfrm>
            <a:off x="1295650" y="754375"/>
            <a:ext cx="51819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p9:notes"/>
          <p:cNvSpPr/>
          <p:nvPr>
            <p:ph idx="2" type="sldImg"/>
          </p:nvPr>
        </p:nvSpPr>
        <p:spPr>
          <a:xfrm>
            <a:off x="533400" y="754063"/>
            <a:ext cx="670560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" name="Google Shape;138;p10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p11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3"/>
          <p:cNvSpPr txBox="1"/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" name="Google Shape;10;p13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5"/>
          <p:cNvSpPr txBox="1"/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5"/>
          <p:cNvSpPr txBox="1"/>
          <p:nvPr>
            <p:ph idx="1"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"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16"/>
          <p:cNvSpPr txBox="1"/>
          <p:nvPr>
            <p:ph idx="2"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7"/>
          <p:cNvSpPr txBox="1"/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/>
          <p:nvPr>
            <p:ph idx="1"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9"/>
          <p:cNvSpPr txBox="1"/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"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2"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3"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0"/>
          <p:cNvSpPr txBox="1"/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0"/>
          <p:cNvSpPr txBox="1"/>
          <p:nvPr>
            <p:ph idx="1"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2"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3"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3"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2"/>
          <p:cNvSpPr txBox="1"/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2"/>
          <p:cNvSpPr txBox="1"/>
          <p:nvPr>
            <p:ph idx="1"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2"/>
          <p:cNvSpPr txBox="1"/>
          <p:nvPr>
            <p:ph idx="2"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3"/>
          <p:cNvSpPr txBox="1"/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3"/>
          <p:cNvSpPr txBox="1"/>
          <p:nvPr>
            <p:ph idx="1"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3"/>
          <p:cNvSpPr txBox="1"/>
          <p:nvPr>
            <p:ph idx="2"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3"/>
          <p:cNvSpPr txBox="1"/>
          <p:nvPr>
            <p:ph idx="3"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4"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4"/>
          <p:cNvSpPr txBox="1"/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4"/>
          <p:cNvSpPr txBox="1"/>
          <p:nvPr>
            <p:ph idx="1"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2"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3"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4"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24"/>
          <p:cNvSpPr txBox="1"/>
          <p:nvPr>
            <p:ph idx="5"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4"/>
          <p:cNvSpPr txBox="1"/>
          <p:nvPr>
            <p:ph idx="6"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"/>
          <p:cNvSpPr/>
          <p:nvPr/>
        </p:nvSpPr>
        <p:spPr>
          <a:xfrm>
            <a:off x="311760" y="744480"/>
            <a:ext cx="8519760" cy="2052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0000" spcFirstLastPara="1" rIns="90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0" i="0" lang="en-US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Assignment 4 Writeup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DO NOT TAG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9ac7ea2687_0_0"/>
          <p:cNvSpPr txBox="1"/>
          <p:nvPr>
            <p:ph type="title"/>
          </p:nvPr>
        </p:nvSpPr>
        <p:spPr>
          <a:xfrm>
            <a:off x="457199" y="71562"/>
            <a:ext cx="8229300" cy="65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</a:pPr>
            <a:r>
              <a:rPr b="1" lang="en-US" sz="2000">
                <a:solidFill>
                  <a:schemeClr val="accent1"/>
                </a:solidFill>
              </a:rPr>
              <a:t>Variational Autoencoder (VAE) Q1a - MNIST</a:t>
            </a:r>
            <a:endParaRPr b="1" sz="1600">
              <a:solidFill>
                <a:schemeClr val="accent1"/>
              </a:solidFill>
            </a:endParaRPr>
          </a:p>
        </p:txBody>
      </p:sp>
      <p:sp>
        <p:nvSpPr>
          <p:cNvPr id="66" name="Google Shape;66;g39ac7ea2687_0_0"/>
          <p:cNvSpPr txBox="1"/>
          <p:nvPr/>
        </p:nvSpPr>
        <p:spPr>
          <a:xfrm>
            <a:off x="493300" y="943100"/>
            <a:ext cx="8045400" cy="40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AutoNum type="arabicPeriod"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Tune beta value with L2 reconstruction loss.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AutoNum type="arabicPeriod"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Keeping beta fixed switch reconstruction loss to L1.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AutoNum type="arabicPeriod"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Show examples of L1 and L2 </a:t>
            </a:r>
            <a:r>
              <a:rPr b="1" i="0" lang="en-US" sz="1700" u="none" cap="none" strike="noStrike">
                <a:solidFill>
                  <a:schemeClr val="dk1"/>
                </a:solidFill>
              </a:rPr>
              <a:t>recon</a:t>
            </a:r>
            <a:r>
              <a:rPr b="1" lang="en-US" sz="1700">
                <a:solidFill>
                  <a:schemeClr val="dk1"/>
                </a:solidFill>
              </a:rPr>
              <a:t>structions</a:t>
            </a:r>
            <a:r>
              <a:rPr lang="en-US" sz="1700">
                <a:solidFill>
                  <a:schemeClr val="dk1"/>
                </a:solidFill>
              </a:rPr>
              <a:t> (not generated samples)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g39ac7ea2687_0_0"/>
          <p:cNvSpPr/>
          <p:nvPr/>
        </p:nvSpPr>
        <p:spPr>
          <a:xfrm>
            <a:off x="5169300" y="1902025"/>
            <a:ext cx="3517200" cy="31218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21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Insert VAE </a:t>
            </a:r>
            <a:r>
              <a:rPr lang="en-US" sz="1800">
                <a:solidFill>
                  <a:schemeClr val="lt1"/>
                </a:solidFill>
              </a:rPr>
              <a:t>reconstructions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– resize to cover this box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g39ac7ea2687_0_0"/>
          <p:cNvSpPr/>
          <p:nvPr/>
        </p:nvSpPr>
        <p:spPr>
          <a:xfrm>
            <a:off x="730325" y="1902025"/>
            <a:ext cx="3517200" cy="31218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21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Insert VAE </a:t>
            </a:r>
            <a:r>
              <a:rPr lang="en-US" sz="1800">
                <a:solidFill>
                  <a:schemeClr val="lt1"/>
                </a:solidFill>
              </a:rPr>
              <a:t>reconstructions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– resize to cover this box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"/>
          <p:cNvSpPr txBox="1"/>
          <p:nvPr>
            <p:ph type="title"/>
          </p:nvPr>
        </p:nvSpPr>
        <p:spPr>
          <a:xfrm>
            <a:off x="457199" y="71562"/>
            <a:ext cx="8229300" cy="65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</a:pPr>
            <a:r>
              <a:rPr b="1" lang="en-US" sz="2000">
                <a:solidFill>
                  <a:schemeClr val="accent1"/>
                </a:solidFill>
              </a:rPr>
              <a:t>Variational Autoencoder (VAE) Q1b - MNIST</a:t>
            </a:r>
            <a:endParaRPr b="1" sz="1600">
              <a:solidFill>
                <a:schemeClr val="accent1"/>
              </a:solidFill>
            </a:endParaRPr>
          </a:p>
        </p:txBody>
      </p:sp>
      <p:sp>
        <p:nvSpPr>
          <p:cNvPr id="74" name="Google Shape;74;p2"/>
          <p:cNvSpPr txBox="1"/>
          <p:nvPr/>
        </p:nvSpPr>
        <p:spPr>
          <a:xfrm>
            <a:off x="493300" y="943100"/>
            <a:ext cx="8045400" cy="40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AutoNum type="arabicPeriod"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Tune beta value with L2 reconstruction loss. 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AutoNum type="arabicPeriod"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Keeping beta fixed switch reconstruction loss to L1.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AutoNum type="arabicPeriod"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Show </a:t>
            </a:r>
            <a:r>
              <a:rPr b="1" i="0" lang="en-US" sz="1700" u="none" cap="none" strike="noStrike">
                <a:solidFill>
                  <a:schemeClr val="dk1"/>
                </a:solidFill>
              </a:rPr>
              <a:t>Generated Samples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from L1 and L2 (</a:t>
            </a:r>
            <a:r>
              <a:rPr lang="en-US" sz="1700">
                <a:solidFill>
                  <a:schemeClr val="dk1"/>
                </a:solidFill>
              </a:rPr>
              <a:t>using generate_images.py)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5169300" y="1902025"/>
            <a:ext cx="3517200" cy="31218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21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Insert VAE generated images grid – resize to cover this box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730325" y="1902025"/>
            <a:ext cx="3517200" cy="31218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21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Insert VAE generated images grid – resize to cover this box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"/>
          <p:cNvSpPr txBox="1"/>
          <p:nvPr>
            <p:ph type="title"/>
          </p:nvPr>
        </p:nvSpPr>
        <p:spPr>
          <a:xfrm>
            <a:off x="457199" y="71562"/>
            <a:ext cx="8229300" cy="65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</a:pPr>
            <a:r>
              <a:rPr b="1" lang="en-US" sz="2000">
                <a:solidFill>
                  <a:schemeClr val="accent1"/>
                </a:solidFill>
              </a:rPr>
              <a:t>Variational Autoencoder (VAE) Q1 cont.</a:t>
            </a:r>
            <a:endParaRPr b="1" sz="1600">
              <a:solidFill>
                <a:schemeClr val="accent1"/>
              </a:solidFill>
            </a:endParaRPr>
          </a:p>
        </p:txBody>
      </p:sp>
      <p:sp>
        <p:nvSpPr>
          <p:cNvPr id="82" name="Google Shape;82;p3"/>
          <p:cNvSpPr txBox="1"/>
          <p:nvPr/>
        </p:nvSpPr>
        <p:spPr>
          <a:xfrm>
            <a:off x="493300" y="943100"/>
            <a:ext cx="8045400" cy="40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Explain your observations for VAE with L1 vs L2?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 txBox="1"/>
          <p:nvPr>
            <p:ph type="title"/>
          </p:nvPr>
        </p:nvSpPr>
        <p:spPr>
          <a:xfrm>
            <a:off x="457199" y="71562"/>
            <a:ext cx="8229300" cy="65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</a:pPr>
            <a:r>
              <a:rPr b="1" lang="en-US" sz="2000">
                <a:solidFill>
                  <a:schemeClr val="accent1"/>
                </a:solidFill>
              </a:rPr>
              <a:t>Variational Autoencoder (VAE) Q2 - MNIST</a:t>
            </a:r>
            <a:endParaRPr b="1" sz="1600">
              <a:solidFill>
                <a:schemeClr val="accent1"/>
              </a:solidFill>
            </a:endParaRPr>
          </a:p>
        </p:txBody>
      </p:sp>
      <p:sp>
        <p:nvSpPr>
          <p:cNvPr id="88" name="Google Shape;88;p4"/>
          <p:cNvSpPr txBox="1"/>
          <p:nvPr/>
        </p:nvSpPr>
        <p:spPr>
          <a:xfrm>
            <a:off x="493300" y="943100"/>
            <a:ext cx="8045400" cy="40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we optimize for our few-shot setting (KNN classifier) what happens to the quality of generated samples? Share an example and explain your observations.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5978306" y="1711856"/>
            <a:ext cx="2631900" cy="24888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21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Insert VAE generated images grid – resize to cover this box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"/>
          <p:cNvSpPr txBox="1"/>
          <p:nvPr>
            <p:ph type="title"/>
          </p:nvPr>
        </p:nvSpPr>
        <p:spPr>
          <a:xfrm>
            <a:off x="457199" y="71562"/>
            <a:ext cx="8229300" cy="65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</a:pPr>
            <a:r>
              <a:rPr b="1" lang="en-US" sz="2000">
                <a:solidFill>
                  <a:schemeClr val="accent1"/>
                </a:solidFill>
              </a:rPr>
              <a:t>Generative Adversarial Network - MNIST</a:t>
            </a:r>
            <a:endParaRPr b="1" sz="1600">
              <a:solidFill>
                <a:schemeClr val="accent1"/>
              </a:solidFill>
            </a:endParaRPr>
          </a:p>
        </p:txBody>
      </p:sp>
      <p:sp>
        <p:nvSpPr>
          <p:cNvPr id="95" name="Google Shape;95;p5"/>
          <p:cNvSpPr txBox="1"/>
          <p:nvPr/>
        </p:nvSpPr>
        <p:spPr>
          <a:xfrm>
            <a:off x="493300" y="943100"/>
            <a:ext cx="4475400" cy="40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There is a common failure mode of GAN training termed </a:t>
            </a:r>
            <a:r>
              <a:rPr b="0" i="1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 collapse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that is when the generator learns to fool the discriminator producing only a certain subset of P(x). Find hyperparameters that exhibit this failure mode and show generated examples. </a:t>
            </a:r>
            <a:r>
              <a:rPr lang="en-US" sz="1700">
                <a:solidFill>
                  <a:schemeClr val="dk1"/>
                </a:solidFill>
              </a:rPr>
              <a:t>List your hyperparameters that obtained this.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5370149" y="842073"/>
            <a:ext cx="3198300" cy="31155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21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Insert GAN generated images grid – resize to cover this box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"/>
          <p:cNvSpPr txBox="1"/>
          <p:nvPr>
            <p:ph type="title"/>
          </p:nvPr>
        </p:nvSpPr>
        <p:spPr>
          <a:xfrm>
            <a:off x="457199" y="71562"/>
            <a:ext cx="8229300" cy="65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</a:pPr>
            <a:r>
              <a:rPr b="1" lang="en-US" sz="2000">
                <a:solidFill>
                  <a:schemeClr val="accent1"/>
                </a:solidFill>
              </a:rPr>
              <a:t>Simple Diffusion</a:t>
            </a:r>
            <a:endParaRPr b="1" sz="1600">
              <a:solidFill>
                <a:schemeClr val="accent1"/>
              </a:solidFill>
            </a:endParaRPr>
          </a:p>
        </p:txBody>
      </p:sp>
      <p:sp>
        <p:nvSpPr>
          <p:cNvPr id="102" name="Google Shape;102;p6"/>
          <p:cNvSpPr txBox="1"/>
          <p:nvPr/>
        </p:nvSpPr>
        <p:spPr>
          <a:xfrm>
            <a:off x="549300" y="1018350"/>
            <a:ext cx="8045400" cy="40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Insert your simple diffusion visualizations here: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5518647" y="2517908"/>
            <a:ext cx="2631900" cy="5541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21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Insert image here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293647" y="2554546"/>
            <a:ext cx="2631900" cy="5541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21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Insert Simple diffusion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6"/>
          <p:cNvSpPr txBox="1"/>
          <p:nvPr/>
        </p:nvSpPr>
        <p:spPr>
          <a:xfrm>
            <a:off x="457200" y="2017250"/>
            <a:ext cx="22284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iteration 0 								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6"/>
          <p:cNvSpPr txBox="1"/>
          <p:nvPr/>
        </p:nvSpPr>
        <p:spPr>
          <a:xfrm>
            <a:off x="5448000" y="2071500"/>
            <a:ext cx="3238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iteration 99 								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"/>
          <p:cNvSpPr txBox="1"/>
          <p:nvPr>
            <p:ph type="title"/>
          </p:nvPr>
        </p:nvSpPr>
        <p:spPr>
          <a:xfrm>
            <a:off x="457199" y="71562"/>
            <a:ext cx="8229300" cy="65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</a:pPr>
            <a:r>
              <a:rPr b="1" lang="en-US" sz="2000">
                <a:solidFill>
                  <a:schemeClr val="accent1"/>
                </a:solidFill>
              </a:rPr>
              <a:t>DDPM - MNIST</a:t>
            </a:r>
            <a:endParaRPr b="1" sz="1600">
              <a:solidFill>
                <a:schemeClr val="accent1"/>
              </a:solidFill>
            </a:endParaRPr>
          </a:p>
        </p:txBody>
      </p:sp>
      <p:sp>
        <p:nvSpPr>
          <p:cNvPr id="112" name="Google Shape;112;p7"/>
          <p:cNvSpPr txBox="1"/>
          <p:nvPr/>
        </p:nvSpPr>
        <p:spPr>
          <a:xfrm>
            <a:off x="549300" y="1018350"/>
            <a:ext cx="8045400" cy="40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Insert your forward diffusion visual here (any epoch is fine):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10" y="1969202"/>
            <a:ext cx="9144000" cy="15099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21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Insert forward diffusion generated images – resize to cover this box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"/>
          <p:cNvSpPr txBox="1"/>
          <p:nvPr>
            <p:ph type="title"/>
          </p:nvPr>
        </p:nvSpPr>
        <p:spPr>
          <a:xfrm>
            <a:off x="457199" y="71562"/>
            <a:ext cx="8229300" cy="65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</a:pPr>
            <a:r>
              <a:rPr b="1" lang="en-US" sz="2000">
                <a:solidFill>
                  <a:schemeClr val="accent1"/>
                </a:solidFill>
              </a:rPr>
              <a:t>DDPM - MNIST </a:t>
            </a:r>
            <a:endParaRPr b="1" sz="1600">
              <a:solidFill>
                <a:schemeClr val="accent1"/>
              </a:solidFill>
            </a:endParaRPr>
          </a:p>
        </p:txBody>
      </p:sp>
      <p:sp>
        <p:nvSpPr>
          <p:cNvPr id="119" name="Google Shape;119;p8"/>
          <p:cNvSpPr txBox="1"/>
          <p:nvPr/>
        </p:nvSpPr>
        <p:spPr>
          <a:xfrm>
            <a:off x="549300" y="608550"/>
            <a:ext cx="8045400" cy="40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After tuning only noise schedule and timesteps: 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Insert your reverse diffusion visual here </a:t>
            </a: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(epoch 0)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Insert your reverse diffusion visual here </a:t>
            </a: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(epoch 9)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10" y="1350302"/>
            <a:ext cx="9144000" cy="15099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21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Insert reverse diffusion image – resize to cover this box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-140" y="3376077"/>
            <a:ext cx="9144000" cy="15099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21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Insert reverse diffusion image – resize to cover this box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9"/>
          <p:cNvSpPr txBox="1"/>
          <p:nvPr>
            <p:ph type="title"/>
          </p:nvPr>
        </p:nvSpPr>
        <p:spPr>
          <a:xfrm>
            <a:off x="457199" y="71562"/>
            <a:ext cx="8229240" cy="6556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</a:pPr>
            <a:r>
              <a:rPr b="1" lang="en-US" sz="2000">
                <a:solidFill>
                  <a:schemeClr val="accent1"/>
                </a:solidFill>
              </a:rPr>
              <a:t>Tune each model (fashionMNIST) to achieve the best images and show your results:</a:t>
            </a:r>
            <a:br>
              <a:rPr b="1" lang="en-US" sz="2000">
                <a:solidFill>
                  <a:schemeClr val="accent1"/>
                </a:solidFill>
              </a:rPr>
            </a:br>
            <a:endParaRPr b="1" sz="1600">
              <a:solidFill>
                <a:schemeClr val="accent1"/>
              </a:solidFill>
            </a:endParaRPr>
          </a:p>
        </p:txBody>
      </p:sp>
      <p:sp>
        <p:nvSpPr>
          <p:cNvPr id="127" name="Google Shape;127;p9"/>
          <p:cNvSpPr txBox="1"/>
          <p:nvPr/>
        </p:nvSpPr>
        <p:spPr>
          <a:xfrm>
            <a:off x="1192166" y="508883"/>
            <a:ext cx="74795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9"/>
          <p:cNvSpPr txBox="1"/>
          <p:nvPr/>
        </p:nvSpPr>
        <p:spPr>
          <a:xfrm>
            <a:off x="4229418" y="508883"/>
            <a:ext cx="68480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9"/>
          <p:cNvSpPr txBox="1"/>
          <p:nvPr/>
        </p:nvSpPr>
        <p:spPr>
          <a:xfrm>
            <a:off x="7115922" y="508883"/>
            <a:ext cx="10781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Diffusion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9"/>
          <p:cNvSpPr/>
          <p:nvPr/>
        </p:nvSpPr>
        <p:spPr>
          <a:xfrm>
            <a:off x="190831" y="1021631"/>
            <a:ext cx="2631882" cy="2488758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21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Insert VAE generated images grid – resize to cover this box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3255878" y="1021631"/>
            <a:ext cx="2631882" cy="2488758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21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Insert GAN generated images grid – resize to cover this box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9"/>
          <p:cNvSpPr/>
          <p:nvPr/>
        </p:nvSpPr>
        <p:spPr>
          <a:xfrm>
            <a:off x="6320925" y="1021631"/>
            <a:ext cx="2631882" cy="2488758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21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Insert Diffusion generated images grid – resize to cover this box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9"/>
          <p:cNvSpPr txBox="1"/>
          <p:nvPr/>
        </p:nvSpPr>
        <p:spPr>
          <a:xfrm>
            <a:off x="588397" y="3840480"/>
            <a:ext cx="11977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FID: ____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9"/>
          <p:cNvSpPr txBox="1"/>
          <p:nvPr/>
        </p:nvSpPr>
        <p:spPr>
          <a:xfrm>
            <a:off x="3804563" y="3840480"/>
            <a:ext cx="11977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FID: ____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9"/>
          <p:cNvSpPr txBox="1"/>
          <p:nvPr/>
        </p:nvSpPr>
        <p:spPr>
          <a:xfrm>
            <a:off x="7020729" y="3832529"/>
            <a:ext cx="11977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FID: ____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"/>
          <p:cNvSpPr txBox="1"/>
          <p:nvPr>
            <p:ph type="title"/>
          </p:nvPr>
        </p:nvSpPr>
        <p:spPr>
          <a:xfrm>
            <a:off x="457200" y="71547"/>
            <a:ext cx="8183100" cy="81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</a:pPr>
            <a:r>
              <a:rPr b="1" lang="en-US" sz="2000">
                <a:solidFill>
                  <a:schemeClr val="accent1"/>
                </a:solidFill>
              </a:rPr>
              <a:t>Compare and contrast the results from the different models. Why might we see the results that we see? what role does the target dataset play?</a:t>
            </a:r>
            <a:endParaRPr b="1" sz="16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"/>
          <p:cNvSpPr txBox="1"/>
          <p:nvPr>
            <p:ph type="title"/>
          </p:nvPr>
        </p:nvSpPr>
        <p:spPr>
          <a:xfrm>
            <a:off x="457200" y="71543"/>
            <a:ext cx="8229300" cy="10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</a:pPr>
            <a:r>
              <a:rPr b="1" lang="en-US" sz="2000">
                <a:solidFill>
                  <a:schemeClr val="accent1"/>
                </a:solidFill>
              </a:rPr>
              <a:t>FID is commonly used to benchmark generative models. Is it a good metric? Why or why not?</a:t>
            </a:r>
            <a:endParaRPr b="1" sz="20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